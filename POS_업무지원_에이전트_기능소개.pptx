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c5603ee491436e" /><Relationship Type="http://schemas.openxmlformats.org/officeDocument/2006/relationships/extended-properties" Target="/docProps/app.xml" Id="R23b34d1d487a4e1f" /><Relationship Type="http://schemas.openxmlformats.org/officeDocument/2006/relationships/officeDocument" Target="/ppt/presentation.xml" Id="R0ca9df303d5f4c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112e085ddc4dea"/>
  </p:sldMasterIdLst>
  <p:notesMasterIdLst>
    <p:notesMasterId xmlns:r="http://schemas.openxmlformats.org/officeDocument/2006/relationships" r:id="Ra9121a4154fc4967"/>
  </p:notesMasterIdLst>
  <p:sldIdLst>
    <p:sldId xmlns:r="http://schemas.openxmlformats.org/officeDocument/2006/relationships" id="256" r:id="Re8731dba07474664"/>
    <p:sldId xmlns:r="http://schemas.openxmlformats.org/officeDocument/2006/relationships" id="257" r:id="Rc34cd9e05bef4111"/>
    <p:sldId xmlns:r="http://schemas.openxmlformats.org/officeDocument/2006/relationships" id="258" r:id="R39b01f9cddf54c9e"/>
    <p:sldId xmlns:r="http://schemas.openxmlformats.org/officeDocument/2006/relationships" id="259" r:id="Rdafd89b615ea4677"/>
    <p:sldId xmlns:r="http://schemas.openxmlformats.org/officeDocument/2006/relationships" id="260" r:id="R8333c722d1744a03"/>
    <p:sldId xmlns:r="http://schemas.openxmlformats.org/officeDocument/2006/relationships" id="261" r:id="R46535ddbcba54c85"/>
    <p:sldId xmlns:r="http://schemas.openxmlformats.org/officeDocument/2006/relationships" id="262" r:id="R3ec9624111d7498a"/>
    <p:sldId xmlns:r="http://schemas.openxmlformats.org/officeDocument/2006/relationships" id="263" r:id="Re52452524d3445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19f4da42fd4539" /><Relationship Type="http://schemas.openxmlformats.org/officeDocument/2006/relationships/slideMaster" Target="/ppt/slideMasters/slideMaster1.xml" Id="R4d112e085ddc4dea" /><Relationship Type="http://schemas.openxmlformats.org/officeDocument/2006/relationships/notesMaster" Target="/ppt/notesMasters/notesMaster1.xml" Id="Ra9121a4154fc4967" /><Relationship Type="http://schemas.openxmlformats.org/officeDocument/2006/relationships/presProps" Target="/ppt/presProps.xml" Id="R8832da4a970445f2" /><Relationship Type="http://schemas.openxmlformats.org/officeDocument/2006/relationships/tableStyles" Target="/ppt/tableStyles.xml" Id="R6e41fc74c69d4294" /><Relationship Type="http://schemas.openxmlformats.org/officeDocument/2006/relationships/slide" Target="/ppt/slides/slide1.xml" Id="Re8731dba07474664" /><Relationship Type="http://schemas.openxmlformats.org/officeDocument/2006/relationships/slide" Target="/ppt/slides/slide2.xml" Id="Rc34cd9e05bef4111" /><Relationship Type="http://schemas.openxmlformats.org/officeDocument/2006/relationships/slide" Target="/ppt/slides/slide3.xml" Id="R39b01f9cddf54c9e" /><Relationship Type="http://schemas.openxmlformats.org/officeDocument/2006/relationships/slide" Target="/ppt/slides/slide4.xml" Id="Rdafd89b615ea4677" /><Relationship Type="http://schemas.openxmlformats.org/officeDocument/2006/relationships/slide" Target="/ppt/slides/slide5.xml" Id="R8333c722d1744a03" /><Relationship Type="http://schemas.openxmlformats.org/officeDocument/2006/relationships/slide" Target="/ppt/slides/slide6.xml" Id="R46535ddbcba54c85" /><Relationship Type="http://schemas.openxmlformats.org/officeDocument/2006/relationships/slide" Target="/ppt/slides/slide7.xml" Id="R3ec9624111d7498a" /><Relationship Type="http://schemas.openxmlformats.org/officeDocument/2006/relationships/slide" Target="/ppt/slides/slide8.xml" Id="Re52452524d3445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e0e612c5044e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23471454014e74" /><Relationship Type="http://schemas.openxmlformats.org/officeDocument/2006/relationships/notesMaster" Target="/ppt/notesMasters/notesMaster1.xml" Id="Rb05089abb81d48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888c1062324e0d" /><Relationship Type="http://schemas.openxmlformats.org/officeDocument/2006/relationships/notesMaster" Target="/ppt/notesMasters/notesMaster1.xml" Id="R7f1cf8ffbb5a43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08c9d046704d97" /><Relationship Type="http://schemas.openxmlformats.org/officeDocument/2006/relationships/notesMaster" Target="/ppt/notesMasters/notesMaster1.xml" Id="Rc7296f342e774c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6be8052df94310" /><Relationship Type="http://schemas.openxmlformats.org/officeDocument/2006/relationships/notesMaster" Target="/ppt/notesMasters/notesMaster1.xml" Id="Rd6255ce46fdc4a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a56b6a67f0441f" /><Relationship Type="http://schemas.openxmlformats.org/officeDocument/2006/relationships/notesMaster" Target="/ppt/notesMasters/notesMaster1.xml" Id="R30ea9be0a1044b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d49b0f6bb049b4" /><Relationship Type="http://schemas.openxmlformats.org/officeDocument/2006/relationships/notesMaster" Target="/ppt/notesMasters/notesMaster1.xml" Id="R6ceec3f89fad41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74dbda6fbc4db5" /><Relationship Type="http://schemas.openxmlformats.org/officeDocument/2006/relationships/notesMaster" Target="/ppt/notesMasters/notesMaster1.xml" Id="R99d1de7e04e545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a9e648f1c749e4" /><Relationship Type="http://schemas.openxmlformats.org/officeDocument/2006/relationships/notesMaster" Target="/ppt/notesMasters/notesMaster1.xml" Id="Rf4ff158cafcb42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app.py, backend/app/main.py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screenshot: /var/folders/5r/f1wvgbnn3xv6cmdg09tzkfmw0000gn/T/codex-clipboard-d38eb27d-7f69-48e5-acb2-8e115b6831f1.png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screenshot: /var/folders/5r/f1wvgbnn3xv6cmdg09tzkfmw0000gn/T/codex-clipboard-b50d8457-04b6-47b8-aa84-71ecc7925986.png</a:t>
            </a:r>
          </a:p>
          <a:p xmlns:a="http://schemas.openxmlformats.org/drawingml/2006/main">
            <a:r>
              <a:t>- Repository: app.py — POS master form and input normalization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screenshot: /var/folders/5r/f1wvgbnn3xv6cmdg09tzkfmw0000gn/T/codex-clipboard-06979517-1597-4dfd-99fa-b4616eb62b18.png</a:t>
            </a:r>
          </a:p>
          <a:p xmlns:a="http://schemas.openxmlformats.org/drawingml/2006/main">
            <a:r>
              <a:t>- User-provided screenshot: /var/folders/5r/f1wvgbnn3xv6cmdg09tzkfmw0000gn/T/codex-clipboard-04a57b28-e312-4439-b3c9-61135f20f889.png</a:t>
            </a:r>
          </a:p>
          <a:p xmlns:a="http://schemas.openxmlformats.org/drawingml/2006/main">
            <a:r>
              <a:t>- Repository: app.py, backend/app/item_diagnostics.py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screenshot: /var/folders/5r/f1wvgbnn3xv6cmdg09tzkfmw0000gn/T/codex-clipboard-96f3d3f0-fa7c-4763-947b-91d92e955ecd.png</a:t>
            </a:r>
          </a:p>
          <a:p xmlns:a="http://schemas.openxmlformats.org/drawingml/2006/main">
            <a:r>
              <a:t>- User-provided screenshot: /var/folders/5r/f1wvgbnn3xv6cmdg09tzkfmw0000gn/T/codex-clipboard-896f4679-252a-41e9-b5e2-0ffdf56de7b0.png</a:t>
            </a:r>
          </a:p>
          <a:p xmlns:a="http://schemas.openxmlformats.org/drawingml/2006/main">
            <a:r>
              <a:t>- Repository: app.py, backend/app/main.py — pattern lookup API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screenshot: /var/folders/5r/f1wvgbnn3xv6cmdg09tzkfmw0000gn/T/codex-clipboard-96a6f4fe-aba6-4608-bc67-dd65ca159dfa.png</a:t>
            </a:r>
          </a:p>
          <a:p xmlns:a="http://schemas.openxmlformats.org/drawingml/2006/main">
            <a:r>
              <a:t>- User-provided screenshot: /var/folders/5r/f1wvgbnn3xv6cmdg09tzkfmw0000gn/T/codex-clipboard-18302173-5552-4eab-b6d2-71cd0d73ed2a.png</a:t>
            </a:r>
          </a:p>
          <a:p xmlns:a="http://schemas.openxmlformats.org/drawingml/2006/main">
            <a:r>
              <a:t>- Repository: app.py, backend/app/main.py — pattern update API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screenshot: /var/folders/5r/f1wvgbnn3xv6cmdg09tzkfmw0000gn/T/codex-clipboard-67527412-dc46-412a-9dfd-190b6f62956d.png</a:t>
            </a:r>
          </a:p>
          <a:p xmlns:a="http://schemas.openxmlformats.org/drawingml/2006/main">
            <a:r>
              <a:t>- User-provided screenshot: /var/folders/5r/f1wvgbnn3xv6cmdg09tzkfmw0000gn/T/codex-clipboard-44250819-04a1-44ba-8374-5bb974f8f114.png</a:t>
            </a:r>
          </a:p>
          <a:p xmlns:a="http://schemas.openxmlformats.org/drawingml/2006/main">
            <a:r>
              <a:t>- Repository: app.py, backend/app/main.py — refund status and cancel APIs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app.py, backend/app/main.py</a:t>
            </a:r>
          </a:p>
          <a:p xmlns:a="http://schemas.openxmlformats.org/drawingml/2006/main">
            <a:r>
              <a:t>- User-provided implementation direction: ELK-based family sale sales integration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01f142bafe4d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23dd7f6fec48f6" /><Relationship Type="http://schemas.openxmlformats.org/officeDocument/2006/relationships/slideLayout" Target="/ppt/slideLayouts/slideLayout1.xml" Id="R30dc8efec62848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dc8efec62848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a8694124da4e16" /><Relationship Type="http://schemas.openxmlformats.org/officeDocument/2006/relationships/notesSlide" Target="/ppt/notesSlides/notesSlide1.xml" Id="R4271d31762c948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315df3640844fc" /><Relationship Type="http://schemas.openxmlformats.org/officeDocument/2006/relationships/image" Target="/ppt/media/image.png" Id="R9b4e55cf1b694624" /><Relationship Type="http://schemas.openxmlformats.org/officeDocument/2006/relationships/notesSlide" Target="/ppt/notesSlides/notesSlide2.xml" Id="Ra8dac57bc1f645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c557563f614c6c" /><Relationship Type="http://schemas.openxmlformats.org/officeDocument/2006/relationships/image" Target="/ppt/media/image2.png" Id="Re5477687feb4487b" /><Relationship Type="http://schemas.openxmlformats.org/officeDocument/2006/relationships/notesSlide" Target="/ppt/notesSlides/notesSlide3.xml" Id="R19ce7ac478704b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72413be6b4a96" /><Relationship Type="http://schemas.openxmlformats.org/officeDocument/2006/relationships/image" Target="/ppt/media/image3.png" Id="R9fa18a6e81c1474f" /><Relationship Type="http://schemas.openxmlformats.org/officeDocument/2006/relationships/image" Target="/ppt/media/image4.png" Id="R115054578aaf4e55" /><Relationship Type="http://schemas.openxmlformats.org/officeDocument/2006/relationships/notesSlide" Target="/ppt/notesSlides/notesSlide4.xml" Id="R94332a98902947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2273a97af4fd0" /><Relationship Type="http://schemas.openxmlformats.org/officeDocument/2006/relationships/image" Target="/ppt/media/image5.png" Id="R8c243be7a2b04f82" /><Relationship Type="http://schemas.openxmlformats.org/officeDocument/2006/relationships/image" Target="/ppt/media/image6.png" Id="Rc05d5641f83b4ca3" /><Relationship Type="http://schemas.openxmlformats.org/officeDocument/2006/relationships/notesSlide" Target="/ppt/notesSlides/notesSlide5.xml" Id="R6750aefb506941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02a6e689946bf" /><Relationship Type="http://schemas.openxmlformats.org/officeDocument/2006/relationships/image" Target="/ppt/media/image7.png" Id="R8cae58258bd04c10" /><Relationship Type="http://schemas.openxmlformats.org/officeDocument/2006/relationships/image" Target="/ppt/media/image8.png" Id="R0772839fab4744e1" /><Relationship Type="http://schemas.openxmlformats.org/officeDocument/2006/relationships/notesSlide" Target="/ppt/notesSlides/notesSlide6.xml" Id="Rc9aac17140644f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2f36f7e14d4149" /><Relationship Type="http://schemas.openxmlformats.org/officeDocument/2006/relationships/image" Target="/ppt/media/image9.png" Id="R2ccbe2dd84034b8e" /><Relationship Type="http://schemas.openxmlformats.org/officeDocument/2006/relationships/image" Target="/ppt/media/image10.png" Id="R52babe9270bb48eb" /><Relationship Type="http://schemas.openxmlformats.org/officeDocument/2006/relationships/notesSlide" Target="/ppt/notesSlides/notesSlide7.xml" Id="R16f0e287c5c847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f5a402d78e4054" /><Relationship Type="http://schemas.openxmlformats.org/officeDocument/2006/relationships/notesSlide" Target="/ppt/notesSlides/notesSlide8.xml" Id="Rcc229e5404994b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DF7C3D-5A11-46AF-B961-D409D797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3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POS 업무 혁신 | MICROSOFT TEAMS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71E199-B4B9-4F8B-8940-8ECC4C24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857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5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POS 업무 지원</a:t>
            </a:r>
          </a:p>
          <a:p xmlns:a="http://schemas.openxmlformats.org/drawingml/2006/main">
            <a:pPr algn="l">
              <a:defRPr sz="5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5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에이전트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C553C3-470C-4E44-ABD5-68150011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482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225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조회·판단·처리를 Teams 안에서 연결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737C6E-CF44-4047-AA16-F59DC495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C22D66-0EF9-48E1-A112-1BE26903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0"/>
            <a:ext cx="180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A6C315-E29D-403A-B254-D419915F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48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2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2026.08</a:t>
            </a:r>
          </a:p>
        </p:txBody>
      </p:sp>
    </p:spTree>
    <p:extLst>
      <p:ext uri="{BB962C8B-B14F-4D97-AF65-F5344CB8AC3E}">
        <p14:creationId xmlns:p14="http://schemas.microsoft.com/office/powerpoint/2010/main" val="12477386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7C7B67AA-5A88-4CB5-86D7-0344702D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하나의 메뉴에서 주요 POS 업무를 바로 실행</a:t>
            </a:r>
          </a:p>
        </p:txBody>
      </p:sp>
      <p:sp>
        <p:nvSpPr>
          <p:cNvPr id="2" name="slide-2-title-rule">
            <a:extLst xmlns:a="http://schemas.openxmlformats.org/drawingml/2006/main">
              <a:ext uri="{FF2B5EF4-FFF2-40B4-BE49-F238E27FC236}">
                <a16:creationId xmlns:a16="http://schemas.microsoft.com/office/drawing/2014/main" id="{13B2038B-3751-41F3-875A-2934B114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1D9C3B-390A-4D8D-B952-46518160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75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사용자는 Teams 카드에서 필요한 업무를 선택하고, 입력·결과·후속 조치까지 같은 대화에서 이어갑니다.</a:t>
            </a:r>
          </a:p>
        </p:txBody>
      </p:sp>
      <p:sp>
        <p:nvSpPr>
          <p:cNvPr id="4" name="tool-menu-frame">
            <a:extLst xmlns:a="http://schemas.openxmlformats.org/drawingml/2006/main">
              <a:ext uri="{FF2B5EF4-FFF2-40B4-BE49-F238E27FC236}">
                <a16:creationId xmlns:a16="http://schemas.microsoft.com/office/drawing/2014/main" id="{84A50D41-61D2-47FE-9DA8-E08CC5D9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11277600" cy="3409950"/>
          </a:xfrm>
          <a:prstGeom xmlns:a="http://schemas.openxmlformats.org/drawingml/2006/main" prst="roundRect">
            <a:avLst>
              <a:gd name="adj" fmla="val 3911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4e55cf1b694624"/>
          <a:stretch xmlns:a="http://schemas.openxmlformats.org/drawingml/2006/main"/>
        </p:blipFill>
        <p:spPr>
          <a:xfrm xmlns:a="http://schemas.openxmlformats.org/drawingml/2006/main">
            <a:off x="614447" y="1914525"/>
            <a:ext cx="10963107" cy="3314700"/>
          </a:xfrm>
          <a:prstGeom xmlns:a="http://schemas.openxmlformats.org/drawingml/2006/main" prst="roundRect">
            <a:avLst>
              <a:gd name="adj" fmla="val 344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C0757-B025-4909-BDBC-73BFA79F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435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8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생성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67C3D-5BA7-4ED1-92A3-9A56816F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5435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8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조회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C625FD-5049-490B-BF32-DD6ABBB1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435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8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수정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7F3C87-1163-4B5B-8EC6-E9419283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435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8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취소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227A2-4354-4D3D-9C48-7FF96B31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67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2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POS 마스터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B619A6-A77E-485A-B3A5-B573A564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674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2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상·단품 / 패턴 / 반품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14191C-F735-44CE-9756-629FF526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867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2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패턴값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03E463-1978-488F-A37E-A45D3D1B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867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2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반품 진행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99E7DB-7361-4741-A31A-876AB2DE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POS 업무 지원 에이전트 | 기능 소개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13D533-7581-4170-AAAB-32E21374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411926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6FB1E10F-E2A5-4A3F-9BB4-485D9360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POS 마스터는 단건·목록·범위를 한 번에 처리</a:t>
            </a:r>
          </a:p>
        </p:txBody>
      </p:sp>
      <p:sp>
        <p:nvSpPr>
          <p:cNvPr id="2" name="slide-3-title-rule">
            <a:extLst xmlns:a="http://schemas.openxmlformats.org/drawingml/2006/main">
              <a:ext uri="{FF2B5EF4-FFF2-40B4-BE49-F238E27FC236}">
                <a16:creationId xmlns:a16="http://schemas.microsoft.com/office/drawing/2014/main" id="{DD0E23D1-B0A1-4BA3-B02D-BD0B633E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F26E5-11F0-450C-9262-1606A254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18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입력 형식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AA7A6-E862-4C3F-B63F-8B176C9F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3619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27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1111</a:t>
            </a:r>
          </a:p>
          <a:p xmlns:a="http://schemas.openxmlformats.org/drawingml/2006/main">
            <a:pPr algn="l">
              <a:defRPr sz="27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27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1111,1112</a:t>
            </a:r>
          </a:p>
          <a:p xmlns:a="http://schemas.openxmlformats.org/drawingml/2006/main">
            <a:pPr algn="l">
              <a:defRPr sz="27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27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1111~1200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ECA07-E002-4642-8EE9-D1C13513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4095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• 단건, 쉼표 목록, 정방향 범위 지원</a:t>
            </a:r>
          </a:p>
          <a:p xmlns:a="http://schemas.openxmlformats.org/drawingml/2006/main">
            <a:pPr algn="l">
              <a:def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• 역방향 범위는 입력 단계에서 차단</a:t>
            </a:r>
          </a:p>
          <a:p xmlns:a="http://schemas.openxmlformats.org/drawingml/2006/main">
            <a:pPr algn="l">
              <a:def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• 검증 후 마스터 생성 API 호출</a:t>
            </a:r>
          </a:p>
        </p:txBody>
      </p:sp>
      <p:sp>
        <p:nvSpPr>
          <p:cNvPr id="6" name="pos-master-frame">
            <a:extLst xmlns:a="http://schemas.openxmlformats.org/drawingml/2006/main">
              <a:ext uri="{FF2B5EF4-FFF2-40B4-BE49-F238E27FC236}">
                <a16:creationId xmlns:a16="http://schemas.microsoft.com/office/drawing/2014/main" id="{81C76D67-FEB2-4C1E-9800-9B0B8AB9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33500"/>
            <a:ext cx="6972300" cy="4324350"/>
          </a:xfrm>
          <a:prstGeom xmlns:a="http://schemas.openxmlformats.org/drawingml/2006/main" prst="roundRect">
            <a:avLst>
              <a:gd name="adj" fmla="val 3084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477687feb4487b"/>
          <a:stretch xmlns:a="http://schemas.openxmlformats.org/drawingml/2006/main"/>
        </p:blipFill>
        <p:spPr>
          <a:xfrm xmlns:a="http://schemas.openxmlformats.org/drawingml/2006/main">
            <a:off x="4810125" y="1670365"/>
            <a:ext cx="6877050" cy="3650621"/>
          </a:xfrm>
          <a:prstGeom xmlns:a="http://schemas.openxmlformats.org/drawingml/2006/main" prst="roundRect">
            <a:avLst>
              <a:gd name="adj" fmla="val 270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E53DB4-4E02-4C14-BDDD-24CB5750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810250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입력 → 검증 → 생성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3E3F6-070F-469A-AE5B-0450EEEE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POS 업무 지원 에이전트 | 기능 소개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B85B17-85F6-40C6-A303-AA6E275C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524886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7F0066BC-36B7-4C8E-AE9F-1DB93DB4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상·단품 검색은 조회 결과를 업무 판단으로 연결</a:t>
            </a:r>
          </a:p>
        </p:txBody>
      </p:sp>
      <p:sp>
        <p:nvSpPr>
          <p:cNvPr id="2" name="slide-4-title-rule">
            <a:extLst xmlns:a="http://schemas.openxmlformats.org/drawingml/2006/main">
              <a:ext uri="{FF2B5EF4-FFF2-40B4-BE49-F238E27FC236}">
                <a16:creationId xmlns:a16="http://schemas.microsoft.com/office/drawing/2014/main" id="{3ACBECA1-6423-40D4-8484-56B4433F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83AF1-1BB6-4325-8397-171F775E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590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상품 또는 단품을 선택하고 코드·바코드 이미지로 조회합니다. 결과 카드에서 가격, 행사, 사용 여부를 함께 확인합니다.</a:t>
            </a:r>
          </a:p>
        </p:txBody>
      </p:sp>
      <p:sp>
        <p:nvSpPr>
          <p:cNvPr id="4" name="item-menu-frame">
            <a:extLst xmlns:a="http://schemas.openxmlformats.org/drawingml/2006/main">
              <a:ext uri="{FF2B5EF4-FFF2-40B4-BE49-F238E27FC236}">
                <a16:creationId xmlns:a16="http://schemas.microsoft.com/office/drawing/2014/main" id="{30E7B114-EB85-409C-87B6-F23CA97B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5476875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a18a6e81c1474f"/>
          <a:stretch xmlns:a="http://schemas.openxmlformats.org/drawingml/2006/main"/>
        </p:blipFill>
        <p:spPr>
          <a:xfrm xmlns:a="http://schemas.openxmlformats.org/drawingml/2006/main">
            <a:off x="504825" y="2221471"/>
            <a:ext cx="5381625" cy="1653059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DFE49-407E-472D-9BEB-CEAE9CCA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338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18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조회 결과에서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4BA9BA-2580-43CC-BD45-87AA34A5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0125"/>
            <a:ext cx="4762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• 일반가·행사가</a:t>
            </a:r>
          </a:p>
          <a:p xmlns:a="http://schemas.openxmlformats.org/drawingml/2006/main">
            <a:pPr algn="l">
              <a:def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• 가격행사 코드·OP 코드</a:t>
            </a:r>
          </a:p>
          <a:p xmlns:a="http://schemas.openxmlformats.org/drawingml/2006/main">
            <a:pPr algn="l">
              <a:def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• 사용 여부 및 적용 행사 판단</a:t>
            </a:r>
          </a:p>
        </p:txBody>
      </p:sp>
      <p:sp>
        <p:nvSpPr>
          <p:cNvPr id="8" name="item-result-frame">
            <a:extLst xmlns:a="http://schemas.openxmlformats.org/drawingml/2006/main">
              <a:ext uri="{FF2B5EF4-FFF2-40B4-BE49-F238E27FC236}">
                <a16:creationId xmlns:a16="http://schemas.microsoft.com/office/drawing/2014/main" id="{3EA3B58F-8D0C-4004-B00A-E35A9D08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19200"/>
            <a:ext cx="5257800" cy="4905375"/>
          </a:xfrm>
          <a:prstGeom xmlns:a="http://schemas.openxmlformats.org/drawingml/2006/main" prst="roundRect">
            <a:avLst>
              <a:gd name="adj" fmla="val 2718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5054578aaf4e55"/>
          <a:stretch xmlns:a="http://schemas.openxmlformats.org/drawingml/2006/main"/>
        </p:blipFill>
        <p:spPr>
          <a:xfrm xmlns:a="http://schemas.openxmlformats.org/drawingml/2006/main">
            <a:off x="7489051" y="1266825"/>
            <a:ext cx="3233697" cy="4810125"/>
          </a:xfrm>
          <a:prstGeom xmlns:a="http://schemas.openxmlformats.org/drawingml/2006/main" prst="roundRect">
            <a:avLst>
              <a:gd name="adj" fmla="val 2376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44DE1A-24BF-41FE-9B9A-A0039049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POS 업무 지원 에이전트 | 기능 소개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A8B99C-6EDF-48E6-99F6-88189616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874730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64DBB1E5-B83E-4E60-A571-4A4CD563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패턴은 조건 검색과 페이지 조회를 함께 지원</a:t>
            </a:r>
          </a:p>
        </p:txBody>
      </p:sp>
      <p:sp>
        <p:nvSpPr>
          <p:cNvPr id="2" name="slide-5-title-rule">
            <a:extLst xmlns:a="http://schemas.openxmlformats.org/drawingml/2006/main">
              <a:ext uri="{FF2B5EF4-FFF2-40B4-BE49-F238E27FC236}">
                <a16:creationId xmlns:a16="http://schemas.microsoft.com/office/drawing/2014/main" id="{9707DBD9-C61B-4AC7-9276-B221514C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762BD-EB85-43B0-9498-2666F8AA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90625"/>
            <a:ext cx="1123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POS 번호는 필수, 검색 구분과 검색어는 선택입니다. 전체 조회와 코드·패턴명 검색을 동일한 화면에서 처리합니다.</a:t>
            </a:r>
          </a:p>
        </p:txBody>
      </p:sp>
      <p:sp>
        <p:nvSpPr>
          <p:cNvPr id="4" name="pattern-form-frame">
            <a:extLst xmlns:a="http://schemas.openxmlformats.org/drawingml/2006/main">
              <a:ext uri="{FF2B5EF4-FFF2-40B4-BE49-F238E27FC236}">
                <a16:creationId xmlns:a16="http://schemas.microsoft.com/office/drawing/2014/main" id="{09F3754F-2785-4D0F-909E-93674F18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0"/>
            <a:ext cx="5143500" cy="3857625"/>
          </a:xfrm>
          <a:prstGeom xmlns:a="http://schemas.openxmlformats.org/drawingml/2006/main" prst="roundRect">
            <a:avLst>
              <a:gd name="adj" fmla="val 3457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243be7a2b04f82"/>
          <a:stretch xmlns:a="http://schemas.openxmlformats.org/drawingml/2006/main"/>
        </p:blipFill>
        <p:spPr>
          <a:xfrm xmlns:a="http://schemas.openxmlformats.org/drawingml/2006/main">
            <a:off x="504825" y="2052902"/>
            <a:ext cx="5048250" cy="3561821"/>
          </a:xfrm>
          <a:prstGeom xmlns:a="http://schemas.openxmlformats.org/drawingml/2006/main" prst="roundRect">
            <a:avLst>
              <a:gd name="adj" fmla="val 3038"/>
            </a:avLst>
          </a:prstGeom>
        </p:spPr>
      </p:pic>
      <p:sp>
        <p:nvSpPr>
          <p:cNvPr id="6" name="pattern-result-frame">
            <a:extLst xmlns:a="http://schemas.openxmlformats.org/drawingml/2006/main">
              <a:ext uri="{FF2B5EF4-FFF2-40B4-BE49-F238E27FC236}">
                <a16:creationId xmlns:a16="http://schemas.microsoft.com/office/drawing/2014/main" id="{59239F5F-EE7A-4209-AD64-630E493B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05000"/>
            <a:ext cx="5829300" cy="3857625"/>
          </a:xfrm>
          <a:prstGeom xmlns:a="http://schemas.openxmlformats.org/drawingml/2006/main" prst="roundRect">
            <a:avLst>
              <a:gd name="adj" fmla="val 3457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5d5641f83b4ca3"/>
          <a:stretch xmlns:a="http://schemas.openxmlformats.org/drawingml/2006/main"/>
        </p:blipFill>
        <p:spPr>
          <a:xfrm xmlns:a="http://schemas.openxmlformats.org/drawingml/2006/main">
            <a:off x="7340138" y="1952625"/>
            <a:ext cx="2960024" cy="3762375"/>
          </a:xfrm>
          <a:prstGeom xmlns:a="http://schemas.openxmlformats.org/drawingml/2006/main" prst="roundRect">
            <a:avLst>
              <a:gd name="adj" fmla="val 303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C7D518-87B4-444D-83CE-C46B18CB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425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전체 / 코드 / 패턴명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1DC9C8-5937-4542-BCFD-ED4B0129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9055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425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10건 단위 페이지 · 패턴값과 설명 동시 표시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998A6B-063D-47AF-9FD8-291636F2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POS 업무 지원 에이전트 | 기능 소개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C9006E-4010-4DFF-99AA-53F5BD4C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315882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49B0AE75-9F7D-4D95-8F28-1530E081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필수 3개 값으로 패턴을 수정하고 반영 건수를 확인</a:t>
            </a:r>
          </a:p>
        </p:txBody>
      </p:sp>
      <p:sp>
        <p:nvSpPr>
          <p:cNvPr id="2" name="slide-6-title-rule">
            <a:extLst xmlns:a="http://schemas.openxmlformats.org/drawingml/2006/main">
              <a:ext uri="{FF2B5EF4-FFF2-40B4-BE49-F238E27FC236}">
                <a16:creationId xmlns:a16="http://schemas.microsoft.com/office/drawing/2014/main" id="{A9A415A8-5D0E-4976-A8C8-4C95F446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5A8F9-6E83-413E-896D-592110C4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90625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패턴 그룹 코드, 패턴 코드, 패턴값을 모두 입력한 경우에만 수정 API를 호출합니다.</a:t>
            </a:r>
          </a:p>
        </p:txBody>
      </p:sp>
      <p:sp>
        <p:nvSpPr>
          <p:cNvPr id="4" name="pattern-update-form-frame">
            <a:extLst xmlns:a="http://schemas.openxmlformats.org/drawingml/2006/main">
              <a:ext uri="{FF2B5EF4-FFF2-40B4-BE49-F238E27FC236}">
                <a16:creationId xmlns:a16="http://schemas.microsoft.com/office/drawing/2014/main" id="{307D3B76-3B8D-4E0F-A648-004D6E61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57375"/>
            <a:ext cx="5715000" cy="3886200"/>
          </a:xfrm>
          <a:prstGeom xmlns:a="http://schemas.openxmlformats.org/drawingml/2006/main" prst="roundRect">
            <a:avLst>
              <a:gd name="adj" fmla="val 3431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ae58258bd04c10"/>
          <a:stretch xmlns:a="http://schemas.openxmlformats.org/drawingml/2006/main"/>
        </p:blipFill>
        <p:spPr>
          <a:xfrm xmlns:a="http://schemas.openxmlformats.org/drawingml/2006/main">
            <a:off x="1007943" y="1905000"/>
            <a:ext cx="4613515" cy="3790950"/>
          </a:xfrm>
          <a:prstGeom xmlns:a="http://schemas.openxmlformats.org/drawingml/2006/main" prst="roundRect">
            <a:avLst>
              <a:gd name="adj" fmla="val 3015"/>
            </a:avLst>
          </a:prstGeom>
        </p:spPr>
      </p:pic>
      <p:sp>
        <p:nvSpPr>
          <p:cNvPr id="6" name="pattern-update-done-frame">
            <a:extLst xmlns:a="http://schemas.openxmlformats.org/drawingml/2006/main">
              <a:ext uri="{FF2B5EF4-FFF2-40B4-BE49-F238E27FC236}">
                <a16:creationId xmlns:a16="http://schemas.microsoft.com/office/drawing/2014/main" id="{FED00070-F273-457C-ABC0-179963CE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57375"/>
            <a:ext cx="5257800" cy="3048000"/>
          </a:xfrm>
          <a:prstGeom xmlns:a="http://schemas.openxmlformats.org/drawingml/2006/main" prst="roundRect">
            <a:avLst>
              <a:gd name="adj" fmla="val 4375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72839fab4744e1"/>
          <a:stretch xmlns:a="http://schemas.openxmlformats.org/drawingml/2006/main"/>
        </p:blipFill>
        <p:spPr>
          <a:xfrm xmlns:a="http://schemas.openxmlformats.org/drawingml/2006/main">
            <a:off x="6524625" y="2069666"/>
            <a:ext cx="5162550" cy="2623418"/>
          </a:xfrm>
          <a:prstGeom xmlns:a="http://schemas.openxmlformats.org/drawingml/2006/main" prst="roundRect">
            <a:avLst>
              <a:gd name="adj" fmla="val 387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6490E-0423-4402-80E9-CA1442D6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197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입력값 검증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967A18-1BC8-4BD9-BEED-FFAAA0FE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1625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24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AD8892-4F3F-4AB9-8D3D-AED07BC9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197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65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수정 및 결과 반환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7E640C-6F9C-4C11-92C0-11A9696E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POS 업무 지원 에이전트 | 기능 소개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5BB58B-AC8E-49A4-B040-EDDC978A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637613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3939C863-56DF-48B9-91AE-09258ED7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반품 진행 위치를 확인하고 필요한 경우 즉시 취소</a:t>
            </a:r>
          </a:p>
        </p:txBody>
      </p:sp>
      <p:sp>
        <p:nvSpPr>
          <p:cNvPr id="2" name="slide-7-title-rule">
            <a:extLst xmlns:a="http://schemas.openxmlformats.org/drawingml/2006/main">
              <a:ext uri="{FF2B5EF4-FFF2-40B4-BE49-F238E27FC236}">
                <a16:creationId xmlns:a16="http://schemas.microsoft.com/office/drawing/2014/main" id="{D2C839F2-A789-429A-9A3C-31B1A983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206495-73AC-4C78-9E33-B6A29C87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90625"/>
            <a:ext cx="1123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점코드·영업일자·POS 번호·거래번호로 진행 상태를 확인한 뒤, 진행 데이터가 있을 때만 취소 버튼을 제공합니다.</a:t>
            </a:r>
          </a:p>
        </p:txBody>
      </p:sp>
      <p:sp>
        <p:nvSpPr>
          <p:cNvPr id="4" name="refund-status-frame">
            <a:extLst xmlns:a="http://schemas.openxmlformats.org/drawingml/2006/main">
              <a:ext uri="{FF2B5EF4-FFF2-40B4-BE49-F238E27FC236}">
                <a16:creationId xmlns:a16="http://schemas.microsoft.com/office/drawing/2014/main" id="{61A5DC7E-7963-441C-AB07-C828690B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829300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cbe2dd84034b8e"/>
          <a:stretch xmlns:a="http://schemas.openxmlformats.org/drawingml/2006/main"/>
        </p:blipFill>
        <p:spPr>
          <a:xfrm xmlns:a="http://schemas.openxmlformats.org/drawingml/2006/main">
            <a:off x="839066" y="1971675"/>
            <a:ext cx="5065568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6" name="refund-done-frame">
            <a:extLst xmlns:a="http://schemas.openxmlformats.org/drawingml/2006/main">
              <a:ext uri="{FF2B5EF4-FFF2-40B4-BE49-F238E27FC236}">
                <a16:creationId xmlns:a16="http://schemas.microsoft.com/office/drawing/2014/main" id="{F7B1A9D1-6F61-456A-8674-246E357D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5067300" cy="23336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babe9270bb48eb"/>
          <a:stretch xmlns:a="http://schemas.openxmlformats.org/drawingml/2006/main"/>
        </p:blipFill>
        <p:spPr>
          <a:xfrm xmlns:a="http://schemas.openxmlformats.org/drawingml/2006/main">
            <a:off x="6715125" y="2618269"/>
            <a:ext cx="4972050" cy="2050087"/>
          </a:xfrm>
          <a:prstGeom xmlns:a="http://schemas.openxmlformats.org/drawingml/2006/main" prst="roundRect">
            <a:avLst>
              <a:gd name="adj" fmla="val 510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F003D-D800-44C1-AC70-A8109F54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197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75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1  원거래 조회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0C7F6B-30E9-4EA5-AE22-3C986EC3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197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75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2  진행 POS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46E3FE-802A-433C-AA39-80FE5164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2197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75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3  진행 취소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F51B24-D846-46BE-A82A-1E451849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POS 업무 지원 에이전트 | 기능 소개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4D0719-75C9-4174-AA2A-8E7E076B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463880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EB9D9F98-3CD3-4B83-9464-655BE75B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28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Teams 안에서 업무 흐름이 닫힌다</a:t>
            </a:r>
          </a:p>
        </p:txBody>
      </p:sp>
      <p:sp>
        <p:nvSpPr>
          <p:cNvPr id="2" name="slide-8-title-rule">
            <a:extLst xmlns:a="http://schemas.openxmlformats.org/drawingml/2006/main">
              <a:ext uri="{FF2B5EF4-FFF2-40B4-BE49-F238E27FC236}">
                <a16:creationId xmlns:a16="http://schemas.microsoft.com/office/drawing/2014/main" id="{2A991489-3A39-47EA-A705-5FF385EC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F34190-FF73-4A32-BA88-52C376D9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90625"/>
            <a:ext cx="1123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65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반복적인 DB 확인과 수작업을 대화형 카드로 전환해, 필요한 정보 확인부터 실제 처리까지 이어집니다.</a:t>
            </a:r>
          </a:p>
        </p:txBody>
      </p:sp>
      <p:sp>
        <p:nvSpPr>
          <p:cNvPr id="4" name="workflow-line">
            <a:extLst xmlns:a="http://schemas.openxmlformats.org/drawingml/2006/main">
              <a:ext uri="{FF2B5EF4-FFF2-40B4-BE49-F238E27FC236}">
                <a16:creationId xmlns:a16="http://schemas.microsoft.com/office/drawing/2014/main" id="{7AF27A18-0636-4468-B0E9-095AD550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83E76E43-0A3A-4F6E-9765-FDD243B4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241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FBCC6-9D70-4045-9DE2-1AE430B3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336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18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1  찾기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BFA854-169C-4175-89AA-A9CB7AAE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2333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상·단품</a:t>
            </a:r>
          </a:p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패턴</a:t>
            </a:r>
          </a:p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반품 상태</a:t>
            </a:r>
          </a:p>
        </p:txBody>
      </p:sp>
      <p:sp>
        <p:nvSpPr>
          <p:cNvPr id="8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2BDD8E9E-D779-4D08-A3F9-140FDA00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241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7F2002-29AD-406D-BBF7-780A4A4C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336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180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2  판단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FE5822-D898-4C47-802F-FDE238FD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24250"/>
            <a:ext cx="2333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가격·행사</a:t>
            </a:r>
          </a:p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사용 여부</a:t>
            </a:r>
          </a:p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진행 위치</a:t>
            </a:r>
          </a:p>
        </p:txBody>
      </p:sp>
      <p:sp>
        <p:nvSpPr>
          <p:cNvPr id="11" name="workflow-node-3">
            <a:extLst xmlns:a="http://schemas.openxmlformats.org/drawingml/2006/main">
              <a:ext uri="{FF2B5EF4-FFF2-40B4-BE49-F238E27FC236}">
                <a16:creationId xmlns:a16="http://schemas.microsoft.com/office/drawing/2014/main" id="{F13F18AD-3872-4438-87D4-F21DDDC9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241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AA5194-50BF-4077-BE95-A6344704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336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8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3  처리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B1CC18-4481-4EEB-A6BD-90724EC0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24250"/>
            <a:ext cx="2333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마스터 생성</a:t>
            </a:r>
          </a:p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패턴 수정</a:t>
            </a:r>
          </a:p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19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반품 취소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EADFBB-6D53-46BD-BBF6-82ACEA31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11277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567CCC-70BC-46D7-B313-6067E2CE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defRPr>
            </a:pPr>
            <a:r>
              <a:rPr sz="1500" b="1">
                <a:solidFill>
                  <a:srgbClr val="3D8DFF"/>
                </a:solidFill>
                <a:latin typeface="NanumSquareOTF"/>
                <a:ea typeface="NanumSquareOTF"/>
                <a:cs typeface="NanumSquareOTF"/>
              </a:rPr>
              <a:t>다음 연계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7B6E30-E5A9-415B-A851-7DAF49C7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6735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defRPr>
            </a:pPr>
            <a:r>
              <a:rPr sz="1650" b="1">
                <a:solidFill>
                  <a:srgbClr val="111111"/>
                </a:solidFill>
                <a:latin typeface="NanumSquareOTF"/>
                <a:ea typeface="NanumSquareOTF"/>
                <a:cs typeface="NanumSquareOTF"/>
              </a:rPr>
              <a:t>2026 한섬패밀리세일 매출조회 — ELK 적재 데이터 연계 방식으로 전환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AD6A5E-4138-4E0D-AFB9-C010E276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POS 업무 지원 에이전트 | 기능 소개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63B2FC-44D6-40D5-89F3-8DD06CCB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defRPr>
            </a:pPr>
            <a:r>
              <a:rPr sz="900" b="0">
                <a:solidFill>
                  <a:srgbClr val="62676F"/>
                </a:solidFill>
                <a:latin typeface="NanumSquareOTF"/>
                <a:ea typeface="NanumSquareOTF"/>
                <a:cs typeface="NanumSquareOTF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438016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2026-08-18T07:42:22.2090000Z</dcterms:created>
  <dcterms:modified xsi:type="dcterms:W3CDTF">2026-08-18T07:42:22.2090000Z</dcterms:modified>
</coreProperties>
</file>