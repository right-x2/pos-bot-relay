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d0870e35234777" /><Relationship Type="http://schemas.openxmlformats.org/officeDocument/2006/relationships/extended-properties" Target="/docProps/app.xml" Id="R1544f2fb470e44f2" /><Relationship Type="http://schemas.openxmlformats.org/officeDocument/2006/relationships/officeDocument" Target="/ppt/presentation.xml" Id="R0b810b22530e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4959c181af485d"/>
  </p:sldMasterIdLst>
  <p:notesMasterIdLst>
    <p:notesMasterId xmlns:r="http://schemas.openxmlformats.org/officeDocument/2006/relationships" r:id="R0d747a34328b4507"/>
  </p:notesMasterIdLst>
  <p:sldIdLst>
    <p:sldId xmlns:r="http://schemas.openxmlformats.org/officeDocument/2006/relationships" id="256" r:id="R97f603fdf16a49ac"/>
    <p:sldId xmlns:r="http://schemas.openxmlformats.org/officeDocument/2006/relationships" id="257" r:id="Raad181c8bdd34d2d"/>
    <p:sldId xmlns:r="http://schemas.openxmlformats.org/officeDocument/2006/relationships" id="258" r:id="R62f6a6de63a14f02"/>
    <p:sldId xmlns:r="http://schemas.openxmlformats.org/officeDocument/2006/relationships" id="259" r:id="R238813265a454a61"/>
    <p:sldId xmlns:r="http://schemas.openxmlformats.org/officeDocument/2006/relationships" id="260" r:id="R790db7c9d2c04710"/>
    <p:sldId xmlns:r="http://schemas.openxmlformats.org/officeDocument/2006/relationships" id="261" r:id="Re402a2728db940d6"/>
    <p:sldId xmlns:r="http://schemas.openxmlformats.org/officeDocument/2006/relationships" id="262" r:id="Re926576a77a44428"/>
    <p:sldId xmlns:r="http://schemas.openxmlformats.org/officeDocument/2006/relationships" id="263" r:id="R758cfd62978a40cd"/>
    <p:sldId xmlns:r="http://schemas.openxmlformats.org/officeDocument/2006/relationships" id="264" r:id="R38d5c16315d94e45"/>
    <p:sldId xmlns:r="http://schemas.openxmlformats.org/officeDocument/2006/relationships" id="265" r:id="Re852388ce39743c8"/>
    <p:sldId xmlns:r="http://schemas.openxmlformats.org/officeDocument/2006/relationships" id="266" r:id="Rc9eb2eea84a54955"/>
    <p:sldId xmlns:r="http://schemas.openxmlformats.org/officeDocument/2006/relationships" id="267" r:id="R92633398c43e444a"/>
    <p:sldId xmlns:r="http://schemas.openxmlformats.org/officeDocument/2006/relationships" id="268" r:id="R862acb1cbcfe4896"/>
    <p:sldId xmlns:r="http://schemas.openxmlformats.org/officeDocument/2006/relationships" id="269" r:id="R593c3642e0cb48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0c5c97e8a4b7d" /><Relationship Type="http://schemas.openxmlformats.org/officeDocument/2006/relationships/slideMaster" Target="/ppt/slideMasters/slideMaster1.xml" Id="R494959c181af485d" /><Relationship Type="http://schemas.openxmlformats.org/officeDocument/2006/relationships/notesMaster" Target="/ppt/notesMasters/notesMaster1.xml" Id="R0d747a34328b4507" /><Relationship Type="http://schemas.openxmlformats.org/officeDocument/2006/relationships/presProps" Target="/ppt/presProps.xml" Id="Rd2da845a57e04fb6" /><Relationship Type="http://schemas.openxmlformats.org/officeDocument/2006/relationships/tableStyles" Target="/ppt/tableStyles.xml" Id="R5ded9f91a57b4345" /><Relationship Type="http://schemas.openxmlformats.org/officeDocument/2006/relationships/slide" Target="/ppt/slides/slide1.xml" Id="R97f603fdf16a49ac" /><Relationship Type="http://schemas.openxmlformats.org/officeDocument/2006/relationships/slide" Target="/ppt/slides/slide2.xml" Id="Raad181c8bdd34d2d" /><Relationship Type="http://schemas.openxmlformats.org/officeDocument/2006/relationships/slide" Target="/ppt/slides/slide3.xml" Id="R62f6a6de63a14f02" /><Relationship Type="http://schemas.openxmlformats.org/officeDocument/2006/relationships/slide" Target="/ppt/slides/slide4.xml" Id="R238813265a454a61" /><Relationship Type="http://schemas.openxmlformats.org/officeDocument/2006/relationships/slide" Target="/ppt/slides/slide5.xml" Id="R790db7c9d2c04710" /><Relationship Type="http://schemas.openxmlformats.org/officeDocument/2006/relationships/slide" Target="/ppt/slides/slide6.xml" Id="Re402a2728db940d6" /><Relationship Type="http://schemas.openxmlformats.org/officeDocument/2006/relationships/slide" Target="/ppt/slides/slide7.xml" Id="Re926576a77a44428" /><Relationship Type="http://schemas.openxmlformats.org/officeDocument/2006/relationships/slide" Target="/ppt/slides/slide8.xml" Id="R758cfd62978a40cd" /><Relationship Type="http://schemas.openxmlformats.org/officeDocument/2006/relationships/slide" Target="/ppt/slides/slide9.xml" Id="R38d5c16315d94e45" /><Relationship Type="http://schemas.openxmlformats.org/officeDocument/2006/relationships/slide" Target="/ppt/slides/slide10.xml" Id="Re852388ce39743c8" /><Relationship Type="http://schemas.openxmlformats.org/officeDocument/2006/relationships/slide" Target="/ppt/slides/slide11.xml" Id="Rc9eb2eea84a54955" /><Relationship Type="http://schemas.openxmlformats.org/officeDocument/2006/relationships/slide" Target="/ppt/slides/slide12.xml" Id="R92633398c43e444a" /><Relationship Type="http://schemas.openxmlformats.org/officeDocument/2006/relationships/slide" Target="/ppt/slides/slide13.xml" Id="R862acb1cbcfe4896" /><Relationship Type="http://schemas.openxmlformats.org/officeDocument/2006/relationships/slide" Target="/ppt/slides/slide14.xml" Id="R593c3642e0cb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e59a3278b6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76d50bd032409d" /><Relationship Type="http://schemas.openxmlformats.org/officeDocument/2006/relationships/notesMaster" Target="/ppt/notesMasters/notesMaster1.xml" Id="Rf90a595be10e41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20bc1d94834ac8" /><Relationship Type="http://schemas.openxmlformats.org/officeDocument/2006/relationships/notesMaster" Target="/ppt/notesMasters/notesMaster1.xml" Id="Rd4f8a9f585c4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b78e1903da468d" /><Relationship Type="http://schemas.openxmlformats.org/officeDocument/2006/relationships/notesMaster" Target="/ppt/notesMasters/notesMaster1.xml" Id="R01079f573bf740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6ce53af6ea4a5d" /><Relationship Type="http://schemas.openxmlformats.org/officeDocument/2006/relationships/notesMaster" Target="/ppt/notesMasters/notesMaster1.xml" Id="R6eefe146b9cd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365085f31940f3" /><Relationship Type="http://schemas.openxmlformats.org/officeDocument/2006/relationships/notesMaster" Target="/ppt/notesMasters/notesMaster1.xml" Id="R4a6b5dd94245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e8884f0c046c4" /><Relationship Type="http://schemas.openxmlformats.org/officeDocument/2006/relationships/notesMaster" Target="/ppt/notesMasters/notesMaster1.xml" Id="R44f41410e7ca4d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2c68f22de4852" /><Relationship Type="http://schemas.openxmlformats.org/officeDocument/2006/relationships/notesMaster" Target="/ppt/notesMasters/notesMaster1.xml" Id="R0be7408fa92d41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5c583accc466e" /><Relationship Type="http://schemas.openxmlformats.org/officeDocument/2006/relationships/notesMaster" Target="/ppt/notesMasters/notesMaster1.xml" Id="R69161426e68344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e4ad04605846e8" /><Relationship Type="http://schemas.openxmlformats.org/officeDocument/2006/relationships/notesMaster" Target="/ppt/notesMasters/notesMaster1.xml" Id="R239574e3d2a34b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79f016a3de4a72" /><Relationship Type="http://schemas.openxmlformats.org/officeDocument/2006/relationships/notesMaster" Target="/ppt/notesMasters/notesMaster1.xml" Id="Rb673088646544a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f61af840e2455d" /><Relationship Type="http://schemas.openxmlformats.org/officeDocument/2006/relationships/notesMaster" Target="/ppt/notesMasters/notesMaster1.xml" Id="R48e5c62e11cf4b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58c37dec254f7d" /><Relationship Type="http://schemas.openxmlformats.org/officeDocument/2006/relationships/notesMaster" Target="/ppt/notesMasters/notesMaster1.xml" Id="Rbbfff46a76d44c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1e3b9bc57e4535" /><Relationship Type="http://schemas.openxmlformats.org/officeDocument/2006/relationships/notesMaster" Target="/ppt/notesMasters/notesMaster1.xml" Id="Ra0e25ee7d2ec48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24dccd0ceb46cc" /><Relationship Type="http://schemas.openxmlformats.org/officeDocument/2006/relationships/notesMaster" Target="/ppt/notesMasters/notesMaster1.xml" Id="R6057439f4d03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app.py, backend/app/main.py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/var/folders/5r/f1wvgbnn3xv6cmdg09tzkfmw0000gn/T/codex-clipboard-d38eb27d-7f69-48e5-acb2-8e115b6831f1.png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/var/folders/5r/f1wvgbnn3xv6cmdg09tzkfmw0000gn/T/codex-clipboard-b50d8457-04b6-47b8-aa84-71ecc7925986.png</a:t>
            </a:r>
          </a:p>
          <a:p xmlns:a="http://schemas.openxmlformats.org/drawingml/2006/main">
            <a:r>
              <a:t>- Repository: app.py — POS master form and input normalization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/var/folders/5r/f1wvgbnn3xv6cmdg09tzkfmw0000gn/T/codex-clipboard-06979517-1597-4dfd-99fa-b4616eb62b18.png</a:t>
            </a:r>
          </a:p>
          <a:p xmlns:a="http://schemas.openxmlformats.org/drawingml/2006/main">
            <a:r>
              <a:t>- User-provided screenshot: /var/folders/5r/f1wvgbnn3xv6cmdg09tzkfmw0000gn/T/codex-clipboard-04a57b28-e312-4439-b3c9-61135f20f889.png</a:t>
            </a:r>
          </a:p>
          <a:p xmlns:a="http://schemas.openxmlformats.org/drawingml/2006/main">
            <a:r>
              <a:t>- Repository: app.py, backend/app/item_diagnostics.py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/var/folders/5r/f1wvgbnn3xv6cmdg09tzkfmw0000gn/T/codex-clipboard-96f3d3f0-fa7c-4763-947b-91d92e955ecd.png</a:t>
            </a:r>
          </a:p>
          <a:p xmlns:a="http://schemas.openxmlformats.org/drawingml/2006/main">
            <a:r>
              <a:t>- User-provided screenshot: /var/folders/5r/f1wvgbnn3xv6cmdg09tzkfmw0000gn/T/codex-clipboard-896f4679-252a-41e9-b5e2-0ffdf56de7b0.png</a:t>
            </a:r>
          </a:p>
          <a:p xmlns:a="http://schemas.openxmlformats.org/drawingml/2006/main">
            <a:r>
              <a:t>- Repository: app.py, backend/app/main.py — pattern lookup 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/var/folders/5r/f1wvgbnn3xv6cmdg09tzkfmw0000gn/T/codex-clipboard-96a6f4fe-aba6-4608-bc67-dd65ca159dfa.png</a:t>
            </a:r>
          </a:p>
          <a:p xmlns:a="http://schemas.openxmlformats.org/drawingml/2006/main">
            <a:r>
              <a:t>- User-provided screenshot: /var/folders/5r/f1wvgbnn3xv6cmdg09tzkfmw0000gn/T/codex-clipboard-18302173-5552-4eab-b6d2-71cd0d73ed2a.png</a:t>
            </a:r>
          </a:p>
          <a:p xmlns:a="http://schemas.openxmlformats.org/drawingml/2006/main">
            <a:r>
              <a:t>- Repository: app.py, backend/app/main.py — pattern update 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/var/folders/5r/f1wvgbnn3xv6cmdg09tzkfmw0000gn/T/codex-clipboard-67527412-dc46-412a-9dfd-190b6f62956d.png</a:t>
            </a:r>
          </a:p>
          <a:p xmlns:a="http://schemas.openxmlformats.org/drawingml/2006/main">
            <a:r>
              <a:t>- User-provided screenshot: /var/folders/5r/f1wvgbnn3xv6cmdg09tzkfmw0000gn/T/codex-clipboard-44250819-04a1-44ba-8374-5bb974f8f114.png</a:t>
            </a:r>
          </a:p>
          <a:p xmlns:a="http://schemas.openxmlformats.org/drawingml/2006/main">
            <a:r>
              <a:t>- Repository: app.py, backend/app/main.py — refund status and cancel APIs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/var/folders/5r/f1wvgbnn3xv6cmdg09tzkfmw0000gn/T/codex-clipboard-8feab9c6-073f-406e-81f8-b51406090c53.png</a:t>
            </a:r>
          </a:p>
          <a:p xmlns:a="http://schemas.openxmlformats.org/drawingml/2006/main">
            <a:r>
              <a:t>- User-provided screenshot: /var/folders/5r/f1wvgbnn3xv6cmdg09tzkfmw0000gn/T/codex-clipboard-3f310220-1e45-4fb1-ab5d-68b55e8aefad.png</a:t>
            </a:r>
          </a:p>
          <a:p xmlns:a="http://schemas.openxmlformats.org/drawingml/2006/main">
            <a:r>
              <a:t>- Repository: app.py, backend/app/main.py — image FAQ and feedback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/var/folders/5r/f1wvgbnn3xv6cmdg09tzkfmw0000gn/T/codex-clipboard-e7a35859-794f-47e7-97b3-4e4249aa04e1.png</a:t>
            </a:r>
          </a:p>
          <a:p xmlns:a="http://schemas.openxmlformats.org/drawingml/2006/main">
            <a:r>
              <a:t>- User-provided screenshot: /var/folders/5r/f1wvgbnn3xv6cmdg09tzkfmw0000gn/T/codex-clipboard-1159ff81-1924-4de5-abf0-811bbd224b50.png</a:t>
            </a:r>
          </a:p>
          <a:p xmlns:a="http://schemas.openxmlformats.org/drawingml/2006/main">
            <a:r>
              <a:t>- Repository: app.py, backend/app/main.py — category and top FAQ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/var/folders/5r/f1wvgbnn3xv6cmdg09tzkfmw0000gn/T/codex-clipboard-c0fab5b4-ff0c-4df7-b8eb-494ac6b73275.png</a:t>
            </a:r>
          </a:p>
          <a:p xmlns:a="http://schemas.openxmlformats.org/drawingml/2006/main">
            <a:r>
              <a:t>- User-provided screenshot: /var/folders/5r/f1wvgbnn3xv6cmdg09tzkfmw0000gn/T/codex-clipboard-3f310220-1e45-4fb1-ab5d-68b55e8aefad.png</a:t>
            </a:r>
          </a:p>
          <a:p xmlns:a="http://schemas.openxmlformats.org/drawingml/2006/main">
            <a:r>
              <a:t>- Repository: app.py — FAQ feedback API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/var/folders/5r/f1wvgbnn3xv6cmdg09tzkfmw0000gn/T/codex-clipboard-526f0ed2-4ee7-48fd-82b0-d3f7647d9f09.png</a:t>
            </a:r>
          </a:p>
          <a:p xmlns:a="http://schemas.openxmlformats.org/drawingml/2006/main">
            <a:r>
              <a:t>- User-provided screenshot: /var/folders/5r/f1wvgbnn3xv6cmdg09tzkfmw0000gn/T/codex-clipboard-c5860e26-cb58-4228-ac4a-8bebbc448ed3.png</a:t>
            </a:r>
          </a:p>
          <a:p xmlns:a="http://schemas.openxmlformats.org/drawingml/2006/main">
            <a:r>
              <a:t>- Repository: app.py, backend/app/main.py — FAQ registration and approval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Teams notification screenshot: /var/folders/5r/f1wvgbnn3xv6cmdg09tzkfmw0000gn/T/codex-clipboard-eb7fe4af-ad1d-4f25-a285-1631f6f749e6.png</a:t>
            </a:r>
          </a:p>
          <a:p xmlns:a="http://schemas.openxmlformats.org/drawingml/2006/main">
            <a:r>
              <a:t>- Repository: backend FAQ registration and Teams notification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/var/folders/5r/f1wvgbnn3xv6cmdg09tzkfmw0000gn/T/codex-clipboard-d2f1b8a0-8b8a-487a-abd1-3739876fae78.png</a:t>
            </a:r>
          </a:p>
          <a:p xmlns:a="http://schemas.openxmlformats.org/drawingml/2006/main">
            <a:r>
              <a:t>- Repository: app.py, backend/app/main.py — natural-language RAG response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app.py, backend/app/main.py</a:t>
            </a:r>
          </a:p>
          <a:p xmlns:a="http://schemas.openxmlformats.org/drawingml/2006/main">
            <a:r>
              <a:t>- User-provided implementation direction: ELK-based family sale sales integration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bffbbf9a4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9b3489bb94411" /><Relationship Type="http://schemas.openxmlformats.org/officeDocument/2006/relationships/slideLayout" Target="/ppt/slideLayouts/slideLayout1.xml" Id="Raf17c28c07784a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17c28c07784a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d14f4644747e1" /><Relationship Type="http://schemas.openxmlformats.org/officeDocument/2006/relationships/notesSlide" Target="/ppt/notesSlides/notesSlide1.xml" Id="R0d3dfbd6670842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9365e6f9544af" /><Relationship Type="http://schemas.openxmlformats.org/officeDocument/2006/relationships/image" Target="/ppt/media/image.png" Id="Rc841c228d96a40e5" /><Relationship Type="http://schemas.openxmlformats.org/officeDocument/2006/relationships/notesSlide" Target="/ppt/notesSlides/notesSlide2.xml" Id="R8bb14311c91442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11985e3e947a6" /><Relationship Type="http://schemas.openxmlformats.org/officeDocument/2006/relationships/image" Target="/ppt/media/image2.png" Id="Rddc68a1bd7c84f7b" /><Relationship Type="http://schemas.openxmlformats.org/officeDocument/2006/relationships/notesSlide" Target="/ppt/notesSlides/notesSlide3.xml" Id="Rbe1689f63768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0a4b4aa84b32" /><Relationship Type="http://schemas.openxmlformats.org/officeDocument/2006/relationships/image" Target="/ppt/media/image3.png" Id="R5219a293385d4e45" /><Relationship Type="http://schemas.openxmlformats.org/officeDocument/2006/relationships/image" Target="/ppt/media/image4.png" Id="R151a648bf5494fb4" /><Relationship Type="http://schemas.openxmlformats.org/officeDocument/2006/relationships/notesSlide" Target="/ppt/notesSlides/notesSlide4.xml" Id="R14c80ca31ed044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4162e2811474f" /><Relationship Type="http://schemas.openxmlformats.org/officeDocument/2006/relationships/image" Target="/ppt/media/image5.png" Id="R4e52b86654aa430e" /><Relationship Type="http://schemas.openxmlformats.org/officeDocument/2006/relationships/image" Target="/ppt/media/image6.png" Id="Rf433ea529fc9438e" /><Relationship Type="http://schemas.openxmlformats.org/officeDocument/2006/relationships/notesSlide" Target="/ppt/notesSlides/notesSlide5.xml" Id="R56f5d5ab91a3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3484ca8c64e74" /><Relationship Type="http://schemas.openxmlformats.org/officeDocument/2006/relationships/image" Target="/ppt/media/image7.png" Id="R1bb63b978f324830" /><Relationship Type="http://schemas.openxmlformats.org/officeDocument/2006/relationships/image" Target="/ppt/media/image8.png" Id="R19da97b461a7438f" /><Relationship Type="http://schemas.openxmlformats.org/officeDocument/2006/relationships/notesSlide" Target="/ppt/notesSlides/notesSlide6.xml" Id="Rc8f05fb673584f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b9afaf7ce4a40" /><Relationship Type="http://schemas.openxmlformats.org/officeDocument/2006/relationships/image" Target="/ppt/media/image9.png" Id="R178577ababd94a80" /><Relationship Type="http://schemas.openxmlformats.org/officeDocument/2006/relationships/image" Target="/ppt/media/image10.png" Id="R264f4dafb33e48d4" /><Relationship Type="http://schemas.openxmlformats.org/officeDocument/2006/relationships/notesSlide" Target="/ppt/notesSlides/notesSlide7.xml" Id="R10cf5ddde05f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2be7da04b4ccd" /><Relationship Type="http://schemas.openxmlformats.org/officeDocument/2006/relationships/image" Target="/ppt/media/image11.png" Id="R7b4c719ff4514164" /><Relationship Type="http://schemas.openxmlformats.org/officeDocument/2006/relationships/image" Target="/ppt/media/image12.png" Id="Rbd32786f56b14cf5" /><Relationship Type="http://schemas.openxmlformats.org/officeDocument/2006/relationships/notesSlide" Target="/ppt/notesSlides/notesSlide8.xml" Id="R5a059ed4b9454c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19a43ec94476e" /><Relationship Type="http://schemas.openxmlformats.org/officeDocument/2006/relationships/image" Target="/ppt/media/image13.png" Id="R1084867a7114432c" /><Relationship Type="http://schemas.openxmlformats.org/officeDocument/2006/relationships/image" Target="/ppt/media/image14.png" Id="R3bc5e29e7c15419c" /><Relationship Type="http://schemas.openxmlformats.org/officeDocument/2006/relationships/notesSlide" Target="/ppt/notesSlides/notesSlide9.xml" Id="Racaed25bc84047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17adef6f04ac4" /><Relationship Type="http://schemas.openxmlformats.org/officeDocument/2006/relationships/image" Target="/ppt/media/image15.png" Id="Rbc301813c2ee4f93" /><Relationship Type="http://schemas.openxmlformats.org/officeDocument/2006/relationships/image" Target="/ppt/media/image16.png" Id="R2dedebb2ba784011" /><Relationship Type="http://schemas.openxmlformats.org/officeDocument/2006/relationships/notesSlide" Target="/ppt/notesSlides/notesSlide10.xml" Id="R9341c4a656f54e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62f55983047eb" /><Relationship Type="http://schemas.openxmlformats.org/officeDocument/2006/relationships/image" Target="/ppt/media/image17.png" Id="R8cbd61bde6c94d2f" /><Relationship Type="http://schemas.openxmlformats.org/officeDocument/2006/relationships/image" Target="/ppt/media/image18.png" Id="Ra196d88511db47d6" /><Relationship Type="http://schemas.openxmlformats.org/officeDocument/2006/relationships/notesSlide" Target="/ppt/notesSlides/notesSlide11.xml" Id="Re0717664a22044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00726ff744c62" /><Relationship Type="http://schemas.openxmlformats.org/officeDocument/2006/relationships/image" Target="/ppt/media/image19.png" Id="R9f69d2bac4c046d3" /><Relationship Type="http://schemas.openxmlformats.org/officeDocument/2006/relationships/notesSlide" Target="/ppt/notesSlides/notesSlide12.xml" Id="Rdbbca643f0e948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6383ca653467a" /><Relationship Type="http://schemas.openxmlformats.org/officeDocument/2006/relationships/image" Target="/ppt/media/image20.png" Id="Re6fe71d413794cb1" /><Relationship Type="http://schemas.openxmlformats.org/officeDocument/2006/relationships/notesSlide" Target="/ppt/notesSlides/notesSlide13.xml" Id="R626d557242464c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d67381be34c55" /><Relationship Type="http://schemas.openxmlformats.org/officeDocument/2006/relationships/notesSlide" Target="/ppt/notesSlides/notesSlide14.xml" Id="R80fa73b203604e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F7C3D-5A11-46AF-B961-D409D79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3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MICROSOFT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1E199-B4B9-4F8B-8940-8ECC4C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POS 업무 지원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553C3-470C-4E44-ABD5-6815001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2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조회·판단·처리를 Teams 안에서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37C6E-CF44-4047-AA16-F59DC495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2D66-0EF9-48E1-A112-1BE2690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6C315-E29D-403A-B254-D419915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247738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C7B67AA-5A88-4CB5-86D7-0344702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하나의 메뉴에서 주요 POS 업무를 바로 실행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13B2038B-3751-41F3-875A-2934B11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D9C3B-390A-4D8D-B952-46518160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사용자는 Teams 카드에서 필요한 업무를 선택하고, 입력·결과·후속 조치까지 같은 대화에서 이어갑니다.</a:t>
            </a:r>
          </a:p>
        </p:txBody>
      </p:sp>
      <p:sp>
        <p:nvSpPr>
          <p:cNvPr id="4" name="tool-menu-frame">
            <a:extLst xmlns:a="http://schemas.openxmlformats.org/drawingml/2006/main">
              <a:ext uri="{FF2B5EF4-FFF2-40B4-BE49-F238E27FC236}">
                <a16:creationId xmlns:a16="http://schemas.microsoft.com/office/drawing/2014/main" id="{84A50D41-61D2-47FE-9DA8-E08CC5D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3409950"/>
          </a:xfrm>
          <a:prstGeom xmlns:a="http://schemas.openxmlformats.org/drawingml/2006/main" prst="roundRect">
            <a:avLst>
              <a:gd name="adj" fmla="val 39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1c228d96a40e5"/>
          <a:stretch xmlns:a="http://schemas.openxmlformats.org/drawingml/2006/main"/>
        </p:blipFill>
        <p:spPr>
          <a:xfrm xmlns:a="http://schemas.openxmlformats.org/drawingml/2006/main">
            <a:off x="614447" y="1914525"/>
            <a:ext cx="10963107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C0757-B025-4909-BDBC-73BFA79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67C3D-5BA7-4ED1-92A3-9A56816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25FD-5049-490B-BF32-DD6ABBB1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F3C87-1163-4B5B-8EC6-E941928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취소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227A2-4354-4D3D-9C48-7FF96B3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마스터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619A6-A77E-485A-B3A5-B573A56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상·단품 / 패턴 / 반품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4191C-F735-44CE-9756-629FF52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패턴값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3E463-1978-488F-A37E-A45D3D1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반품 진행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9E7DB-7361-4741-A31A-876AB2D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3D533-7581-4170-AAAB-32E2137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1192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1E10F-E2A5-4A3F-9BB4-485D936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POS 마스터는 단건·목록·범위를 한 번에 처리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D0E23D1-B0A1-4BA3-B02D-BD0B63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6E5-11F0-450C-9262-1606A25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입력 형식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A7A6-E862-4C3F-B63F-8B176C9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1111,1112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1111~1200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ECA07-E002-4642-8EE9-D1C1351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단건, 쉼표 목록, 정방향 범위 지원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역방향 범위는 입력 단계에서 차단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검증 후 마스터 생성 API 호출</a:t>
            </a:r>
          </a:p>
        </p:txBody>
      </p:sp>
      <p:sp>
        <p:nvSpPr>
          <p:cNvPr id="6" name="pos-master-frame">
            <a:extLst xmlns:a="http://schemas.openxmlformats.org/drawingml/2006/main">
              <a:ext uri="{FF2B5EF4-FFF2-40B4-BE49-F238E27FC236}">
                <a16:creationId xmlns:a16="http://schemas.microsoft.com/office/drawing/2014/main" id="{81C76D67-FEB2-4C1E-9800-9B0B8A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972300" cy="4324350"/>
          </a:xfrm>
          <a:prstGeom xmlns:a="http://schemas.openxmlformats.org/drawingml/2006/main" prst="roundRect">
            <a:avLst>
              <a:gd name="adj" fmla="val 308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68a1bd7c84f7b"/>
          <a:stretch xmlns:a="http://schemas.openxmlformats.org/drawingml/2006/main"/>
        </p:blipFill>
        <p:spPr>
          <a:xfrm xmlns:a="http://schemas.openxmlformats.org/drawingml/2006/main">
            <a:off x="4810125" y="1670365"/>
            <a:ext cx="6877050" cy="3650621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3DB4-4E02-4C14-BDDD-24CB57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입력 → 검증 →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E3F6-070F-469A-AE5B-0450EEE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5B17-85F6-40C6-A303-AA6E275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2488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F0066BC-36B7-4C8E-AE9F-1DB93D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상·단품 검색은 조회 결과를 업무 판단으로 연결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3ACBECA1-6423-40D4-8484-56B4433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83AF1-1BB6-4325-8397-171F775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상품 또는 단품을 선택하고 코드·바코드 이미지로 조회합니다. 결과 카드에서 가격, 행사, 사용 여부를 함께 확인합니다.</a:t>
            </a:r>
          </a:p>
        </p:txBody>
      </p:sp>
      <p:sp>
        <p:nvSpPr>
          <p:cNvPr id="4" name="item-menu-frame">
            <a:extLst xmlns:a="http://schemas.openxmlformats.org/drawingml/2006/main">
              <a:ext uri="{FF2B5EF4-FFF2-40B4-BE49-F238E27FC236}">
                <a16:creationId xmlns:a16="http://schemas.microsoft.com/office/drawing/2014/main" id="{30E7B114-EB85-409C-87B6-F23CA97B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547687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9a293385d4e45"/>
          <a:stretch xmlns:a="http://schemas.openxmlformats.org/drawingml/2006/main"/>
        </p:blipFill>
        <p:spPr>
          <a:xfrm xmlns:a="http://schemas.openxmlformats.org/drawingml/2006/main">
            <a:off x="504825" y="2221471"/>
            <a:ext cx="5381625" cy="1653059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FE49-407E-472D-9BEB-CEAE9CCA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조회 결과에서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BA9BA-2580-43CC-BD45-87AA34A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일반가·행사가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가격행사 코드·OP 코드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사용 여부 및 적용 행사 판단</a:t>
            </a:r>
          </a:p>
        </p:txBody>
      </p:sp>
      <p:sp>
        <p:nvSpPr>
          <p:cNvPr id="8" name="item-result-frame">
            <a:extLst xmlns:a="http://schemas.openxmlformats.org/drawingml/2006/main">
              <a:ext uri="{FF2B5EF4-FFF2-40B4-BE49-F238E27FC236}">
                <a16:creationId xmlns:a16="http://schemas.microsoft.com/office/drawing/2014/main" id="{3EA3B58F-8D0C-4004-B00A-E35A9D08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257800" cy="4905375"/>
          </a:xfrm>
          <a:prstGeom xmlns:a="http://schemas.openxmlformats.org/drawingml/2006/main" prst="roundRect">
            <a:avLst>
              <a:gd name="adj" fmla="val 27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a648bf5494fb4"/>
          <a:stretch xmlns:a="http://schemas.openxmlformats.org/drawingml/2006/main"/>
        </p:blipFill>
        <p:spPr>
          <a:xfrm xmlns:a="http://schemas.openxmlformats.org/drawingml/2006/main">
            <a:off x="7489051" y="1266825"/>
            <a:ext cx="3233697" cy="4810125"/>
          </a:xfrm>
          <a:prstGeom xmlns:a="http://schemas.openxmlformats.org/drawingml/2006/main" prst="roundRect">
            <a:avLst>
              <a:gd name="adj" fmla="val 237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4DE1A-24BF-41FE-9B9A-A003904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8B99C-6EDF-48E6-99F6-8818961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747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4DBB1E5-B83E-4E60-A571-4A4CD56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패턴은 조건 검색과 페이지 조회를 함께 지원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9707DBD9-C61B-4AC7-9276-B221514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62BD-EB85-43B0-9498-2666F8A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번호는 필수, 검색 구분과 검색어는 선택입니다. 전체 조회와 코드·패턴명 검색을 동일한 화면에서 처리합니다.</a:t>
            </a:r>
          </a:p>
        </p:txBody>
      </p:sp>
      <p:sp>
        <p:nvSpPr>
          <p:cNvPr id="4" name="pattern-form-frame">
            <a:extLst xmlns:a="http://schemas.openxmlformats.org/drawingml/2006/main">
              <a:ext uri="{FF2B5EF4-FFF2-40B4-BE49-F238E27FC236}">
                <a16:creationId xmlns:a16="http://schemas.microsoft.com/office/drawing/2014/main" id="{09F3754F-2785-4D0F-909E-93674F1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51435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2b86654aa430e"/>
          <a:stretch xmlns:a="http://schemas.openxmlformats.org/drawingml/2006/main"/>
        </p:blipFill>
        <p:spPr>
          <a:xfrm xmlns:a="http://schemas.openxmlformats.org/drawingml/2006/main">
            <a:off x="504825" y="2052902"/>
            <a:ext cx="5048250" cy="3561821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6" name="pattern-result-frame">
            <a:extLst xmlns:a="http://schemas.openxmlformats.org/drawingml/2006/main">
              <a:ext uri="{FF2B5EF4-FFF2-40B4-BE49-F238E27FC236}">
                <a16:creationId xmlns:a16="http://schemas.microsoft.com/office/drawing/2014/main" id="{59239F5F-EE7A-4209-AD64-630E493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8293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3ea529fc9438e"/>
          <a:stretch xmlns:a="http://schemas.openxmlformats.org/drawingml/2006/main"/>
        </p:blipFill>
        <p:spPr>
          <a:xfrm xmlns:a="http://schemas.openxmlformats.org/drawingml/2006/main">
            <a:off x="7340138" y="1952625"/>
            <a:ext cx="2960024" cy="37623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D518-87B4-444D-83CE-C46B18C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전체 / 코드 / 패턴명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C9C8-5937-4542-BCFD-ED4B012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10건 단위 페이지 · 패턴값과 설명 동시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8A6B-063D-47AF-9FD8-291636F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006E-4010-4DFF-99AA-53F5BD4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58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필수 3개 값으로 패턴을 수정하고 반영 건수를 확인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패턴 그룹 코드, 패턴 코드, 패턴값을 모두 입력한 경우에만 수정 API를 호출합니다.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63b978f324830"/>
          <a:stretch xmlns:a="http://schemas.openxmlformats.org/drawingml/2006/main"/>
        </p:blipFill>
        <p:spPr>
          <a:xfrm xmlns:a="http://schemas.openxmlformats.org/drawingml/2006/main">
            <a:off x="1007943" y="1905000"/>
            <a:ext cx="4613515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a97b461a7438f"/>
          <a:stretch xmlns:a="http://schemas.openxmlformats.org/drawingml/2006/main"/>
        </p:blipFill>
        <p:spPr>
          <a:xfrm xmlns:a="http://schemas.openxmlformats.org/drawingml/2006/main">
            <a:off x="6524625" y="2069666"/>
            <a:ext cx="5162550" cy="2623418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입력값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수정 및 결과 반환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939C863-56DF-48B9-91AE-09258ED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반품 진행 위치를 확인하고 필요한 경우 즉시 취소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D2C839F2-A789-429A-9A3C-31B1A98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06495-73AC-4C78-9E33-B6A29C8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점코드·영업일자·POS 번호·거래번호로 진행 상태를 확인한 뒤, 진행 데이터가 있을 때만 취소 버튼을 제공합니다.</a:t>
            </a:r>
          </a:p>
        </p:txBody>
      </p:sp>
      <p:sp>
        <p:nvSpPr>
          <p:cNvPr id="4" name="refund-status-frame">
            <a:extLst xmlns:a="http://schemas.openxmlformats.org/drawingml/2006/main">
              <a:ext uri="{FF2B5EF4-FFF2-40B4-BE49-F238E27FC236}">
                <a16:creationId xmlns:a16="http://schemas.microsoft.com/office/drawing/2014/main" id="{61A5DC7E-7963-441C-AB07-C828690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82930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577ababd94a80"/>
          <a:stretch xmlns:a="http://schemas.openxmlformats.org/drawingml/2006/main"/>
        </p:blipFill>
        <p:spPr>
          <a:xfrm xmlns:a="http://schemas.openxmlformats.org/drawingml/2006/main">
            <a:off x="839066" y="1971675"/>
            <a:ext cx="506556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refund-done-frame">
            <a:extLst xmlns:a="http://schemas.openxmlformats.org/drawingml/2006/main">
              <a:ext uri="{FF2B5EF4-FFF2-40B4-BE49-F238E27FC236}">
                <a16:creationId xmlns:a16="http://schemas.microsoft.com/office/drawing/2014/main" id="{F7B1A9D1-6F61-456A-8674-246E357D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506730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f4dafb33e48d4"/>
          <a:stretch xmlns:a="http://schemas.openxmlformats.org/drawingml/2006/main"/>
        </p:blipFill>
        <p:spPr>
          <a:xfrm xmlns:a="http://schemas.openxmlformats.org/drawingml/2006/main">
            <a:off x="6715125" y="2618269"/>
            <a:ext cx="4972050" cy="2050087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003D-D800-44C1-AC70-A8109F54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  원거래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C7F6B-30E9-4EA5-AE22-3C986EC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2  진행 POS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6E3FE-802A-433C-AA39-80FE516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3  진행 취소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51B24-D846-46BE-A82A-1E45184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D0719-75C9-4174-AA2A-8E7E076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388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이미지와 질문을 함께 분석해 관련 FAQ를 안내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첨부 화면의 오류 문구와 상황을 추출하고, 사용자 질문과 결합해 관련 FAQ와 대응 방법을 찾습니다.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c719ff45141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07943" y="1905000"/>
            <a:ext cx="4613515" cy="3790950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2786f56b14c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24625" y="2069666"/>
            <a:ext cx="5162550" cy="26234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이미지·질문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FAQ 답변·근거·피드백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4DBB1E5-B83E-4E60-A571-4A4CD56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일반 질문은 카테고리와 상위 질문으로 빠르게 진입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9707DBD9-C61B-4AC7-9276-B221514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62BD-EB85-43B0-9498-2666F8A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업무 카테고리를 선택하면 조회 빈도 기준 상위 질문 5개를 제공하고, 선택한 질문을 즉시 FAQ 검색으로 연결합니다.</a:t>
            </a:r>
          </a:p>
        </p:txBody>
      </p:sp>
      <p:sp>
        <p:nvSpPr>
          <p:cNvPr id="4" name="pattern-form-frame">
            <a:extLst xmlns:a="http://schemas.openxmlformats.org/drawingml/2006/main">
              <a:ext uri="{FF2B5EF4-FFF2-40B4-BE49-F238E27FC236}">
                <a16:creationId xmlns:a16="http://schemas.microsoft.com/office/drawing/2014/main" id="{09F3754F-2785-4D0F-909E-93674F1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51435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4867a711443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04825" y="2052902"/>
            <a:ext cx="5048250" cy="3561821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result-frame">
            <a:extLst xmlns:a="http://schemas.openxmlformats.org/drawingml/2006/main">
              <a:ext uri="{FF2B5EF4-FFF2-40B4-BE49-F238E27FC236}">
                <a16:creationId xmlns:a16="http://schemas.microsoft.com/office/drawing/2014/main" id="{59239F5F-EE7A-4209-AD64-630E493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8293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5e29e7c1541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340138" y="1952625"/>
            <a:ext cx="2960024" cy="376237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D518-87B4-444D-83CE-C46B18C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업무 카테고리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C9C8-5937-4542-BCFD-ED4B012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카테고리별 상위 질문 5개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8A6B-063D-47AF-9FD8-291636F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006E-4010-4DFF-99AA-53F5BD4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1588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답변 평가는 FAQ 개선 데이터로 다시 활용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도움됨·도움안됨 평가를 저장하고, 부족한 답변에는 구체적인 개선 의견을 추가로 수집합니다.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01813c2ee4f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07943" y="1905000"/>
            <a:ext cx="4613515" cy="3790950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debb2ba78401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24625" y="2069666"/>
            <a:ext cx="5162550" cy="26234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개선 의견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평가 결과 저장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새 FAQ는 Teams에서 요청하고 승인 흐름까지 연결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업무 구분·질문·답변·키워드를 입력하면 등록 요청을 생성하고, 권한에 따라 승인 대기 또는 즉시 반영합니다.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d61bde6c94d2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07943" y="1905000"/>
            <a:ext cx="4613515" cy="3790950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6d88511db47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24625" y="2069666"/>
            <a:ext cx="5162550" cy="26234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FAQ 등록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요청 번호·상태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1E10F-E2A5-4A3F-9BB4-485D936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FAQ 등록 후 담당자에게 Teams 알림까지 전달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D0E23D1-B0A1-4BA3-B02D-BD0B63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6E5-11F0-450C-9262-1606A25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알림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A7A6-E862-4C3F-B63F-8B176C9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FAQ 등록 결과를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담당자에게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즉시 안내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ECA07-E002-4642-8EE9-D1C1351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FAQ 제목과 등록자 표시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대상 담당자에게 Teams 알림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등록·승인 흐름과 연결</a:t>
            </a:r>
          </a:p>
        </p:txBody>
      </p:sp>
      <p:sp>
        <p:nvSpPr>
          <p:cNvPr id="6" name="pos-master-frame">
            <a:extLst xmlns:a="http://schemas.openxmlformats.org/drawingml/2006/main">
              <a:ext uri="{FF2B5EF4-FFF2-40B4-BE49-F238E27FC236}">
                <a16:creationId xmlns:a16="http://schemas.microsoft.com/office/drawing/2014/main" id="{81C76D67-FEB2-4C1E-9800-9B0B8A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972300" cy="4324350"/>
          </a:xfrm>
          <a:prstGeom xmlns:a="http://schemas.openxmlformats.org/drawingml/2006/main" prst="roundRect">
            <a:avLst>
              <a:gd name="adj" fmla="val 308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9d2bac4c046d3"/>
          <a:stretch xmlns:a="http://schemas.openxmlformats.org/drawingml/2006/main"/>
        </p:blipFill>
        <p:spPr>
          <a:xfrm xmlns:a="http://schemas.openxmlformats.org/drawingml/2006/main" flipH="0" flipV="0">
            <a:off x="4926806" y="2914650"/>
            <a:ext cx="6643688" cy="94297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3DB4-4E02-4C14-BDDD-24CB57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FAQ 등록 → 대상자 조회 → Teams 알림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E3F6-070F-469A-AE5B-0450EEE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5B17-85F6-40C6-A303-AA6E275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2488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1E10F-E2A5-4A3F-9BB4-485D936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자연어 질문도 관련 FAQ를 묶어 실무 답변으로 제공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D0E23D1-B0A1-4BA3-B02D-BD0B63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6E5-11F0-450C-9262-1606A25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질문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A7A6-E862-4C3F-B63F-8B176C9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PPOS 담당자와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내부행사 세팅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방법 알려줘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ECA07-E002-4642-8EE9-D1C1351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질문 의도와 업무 카테고리 해석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벡터 검색으로 관련 FAQ 탐색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참고한 FAQ를 답변과 함께 표시</a:t>
            </a:r>
          </a:p>
        </p:txBody>
      </p:sp>
      <p:sp>
        <p:nvSpPr>
          <p:cNvPr id="6" name="pos-master-frame">
            <a:extLst xmlns:a="http://schemas.openxmlformats.org/drawingml/2006/main">
              <a:ext uri="{FF2B5EF4-FFF2-40B4-BE49-F238E27FC236}">
                <a16:creationId xmlns:a16="http://schemas.microsoft.com/office/drawing/2014/main" id="{81C76D67-FEB2-4C1E-9800-9B0B8A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972300" cy="4324350"/>
          </a:xfrm>
          <a:prstGeom xmlns:a="http://schemas.openxmlformats.org/drawingml/2006/main" prst="roundRect">
            <a:avLst>
              <a:gd name="adj" fmla="val 308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e71d413794c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810125" y="1670365"/>
            <a:ext cx="6877050" cy="365062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3DB4-4E02-4C14-BDDD-24CB57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질문 → 검색 → 답변 + 참고 FAQ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E3F6-070F-469A-AE5B-0450EEE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5B17-85F6-40C6-A303-AA6E275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24886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B9D9F98-3CD3-4B83-9464-655BE75B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Teams 안에서 업무 흐름이 닫힌다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2A991489-3A39-47EA-A705-5FF385E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34190-FF73-4A32-BA88-52C376D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도구 실행과 FAQ 탐색을 대화형 카드로 연결해, 정보 확인부터 처리·개선까지 이어집니다.</a:t>
            </a:r>
          </a:p>
        </p:txBody>
      </p:sp>
      <p:sp>
        <p:nvSpPr>
          <p:cNvPr id="4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7AF27A18-0636-4468-B0E9-095AD55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83E76E43-0A3A-4F6E-9765-FDD243B4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FBCC6-9D70-4045-9DE2-1AE430B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1 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FA854-169C-4175-89AA-A9CB7AA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상·단품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FAQ</a:t>
            </a:r>
          </a:p>
        </p:txBody>
      </p:sp>
      <p:sp>
        <p:nvSpPr>
          <p:cNvPr id="8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D8E9E-D779-4D08-A3F9-140FDA0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2002-29AD-406D-BBF7-780A4A4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2 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E5822-D898-4C47-802F-FDE238F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가격·행사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대처 방법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진행 위치</a:t>
            </a:r>
          </a:p>
        </p:txBody>
      </p:sp>
      <p:sp>
        <p:nvSpPr>
          <p:cNvPr id="11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F13F18AD-3872-4438-87D4-F21DDDC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A5194-50BF-4077-BE95-A634470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3 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1CC18-4481-4EEB-A6BD-90724EC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마스터 생성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 수정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FAQ 등록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ADFBB-6D53-46BD-BBF6-82ACEA31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67CCC-70BC-46D7-B313-6067E2C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다음 연계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B6E30-E5A9-415B-A851-7DAF49C7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2026 한섬패밀리세일 매출조회 — ELK 적재 데이터 연계 방식으로 전환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D6A5E-4138-4E0D-AFB9-C010E27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3B2FC-44D6-40D5-89F3-8DD06CCB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3801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2026-08-18T08:50:41.3010000Z</dcterms:created>
  <dcterms:modified xsi:type="dcterms:W3CDTF">2026-08-18T08:50:41.3010000Z</dcterms:modified>
</coreProperties>
</file>